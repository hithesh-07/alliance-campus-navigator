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ALLIANCE UNIVERSITY  •  DEPARTMENT OF COMPUTER SCIENCE &amp; ENGINEERING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Alliance Campus Navigator</a:t>
            </a:r>
          </a:p>
          <a:p>
            <a:pPr>
              <a:spcBef>
                <a:spcPts val="800"/>
              </a:spcBef>
              <a:defRPr sz="1800">
                <a:solidFill>
                  <a:srgbClr val="CBD5E1"/>
                </a:solidFill>
                <a:latin typeface="Segoe UI"/>
              </a:defRPr>
            </a:pPr>
            <a:r>
              <a:t>An Interactive Java-Based Campus Facility Finder</a:t>
            </a:r>
          </a:p>
          <a:p>
            <a:pPr>
              <a:spcBef>
                <a:spcPts val="2400"/>
              </a:spcBef>
              <a:defRPr sz="1000">
                <a:solidFill>
                  <a:srgbClr val="1E293B"/>
                </a:solidFill>
              </a:defRPr>
            </a:pPr>
            <a:r>
              <a:t>━━━━━━━━━━━━━━━━━━━━━━━━━━━━━━━━━━━━━━━━━━━━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Student: B. Hithesh Reddy</a:t>
            </a:r>
            <a:br/>
            <a:r>
              <a:t>Course: B.Tech in Computer Science and Engineering</a:t>
            </a:r>
            <a:br/>
            <a:r>
              <a:t>Project Type: Java Micro Project</a:t>
            </a:r>
            <a:br/>
            <a:r>
              <a:t>Academic Year: 2026–2027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71600"/>
            <a:ext cx="42976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_campus_ma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393192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429768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Live Desktop Application Screenshot</a:t>
            </a:r>
            <a:br/>
            <a:r>
              <a:t>• Java Swing &amp; Java2D Vector Map Engine</a:t>
            </a:r>
            <a:br/>
            <a:r>
              <a:t>• Drag-and-Drop Facility Repositioning</a:t>
            </a:r>
            <a:br/>
            <a:r>
              <a:t>• Offline Persistent CSV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Introduction — Project Background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🏛 The University Campus Environment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Alliance University encompasses a sprawling, multi-acre central campus in Anekal, Bengaluru.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The campus houses numerous diverse departments: Academic schools, administrative blocks, student hostels, sports grounds, and food courts.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Navigating between departments poses a challenge for freshmen, visiting parents, guest lecturers, and recruitment partners.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• Traditional physical signboards or static image maps fail to provide searchability, categorized filtering, or interactive facility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7490"/>
                </a:solidFill>
                <a:latin typeface="Segoe UI"/>
              </a:defRPr>
            </a:pPr>
            <a:r>
              <a:t>💡 The Campus Navigator Solution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✔ A standalone, offline-first Java desktop application built tailored specifically for Alliance University.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✔ Dynamic Java2D Vector Schematic: Illustrates core campus geography including roads, green spaces, and key building footprints.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✔ Structured Facility Database: Organizes 20 core university facilities into 6 functional categories.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✔ Unified User Experience: Offers instant multi-criteria search, one-click building centering, and real-time layout management.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✔ Zero External Dependencies: Runs purely on standard Java SE runtime with lightweight CSV file persistence.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Project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OFFICIAL PROBLEM STATEMENT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"To develop a user-friendly desktop application that presents campus facilities through an interactive schematic map and allows users to search, identify, and manage location information."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  <a:latin typeface="Segoe UI"/>
              </a:defRPr>
            </a:pPr>
            <a:r>
              <a:t>⚠ Campus Navigation Challenges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Sprawling multi-block layout creates orientation difficulties.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New students and visitors struggle to find lecture halls and admin offices.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Static PDF/image campus maps lack keyword search and interaction.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  <a:latin typeface="Segoe UI"/>
              </a:defRPr>
            </a:pPr>
            <a:r>
              <a:t>🎯 Target User Personas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First-Year Students: Quickly locate class blocks, labs, and dining.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Visitors &amp; Parents: Locate Administrative Block and seminar halls.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Campus Admins: Add, edit, or reposition facilities dynamically.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83464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0175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  <a:latin typeface="Segoe UI"/>
              </a:defRPr>
            </a:pPr>
            <a:r>
              <a:t>✨ Core Motivations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Eliminate dependency on proprietary, paid mapping APIs (Google Maps API).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Deliver 100% offline reliability without internet access.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Build a robust, extensible Java OOP showcase for B.Tech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Objectives &amp; Scope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🎯 Core Project Objectives</a:t>
            </a:r>
          </a:p>
          <a:p>
            <a:pPr>
              <a:spcBef>
                <a:spcPts val="800"/>
              </a:spcBef>
              <a:defRPr sz="1200" b="1">
                <a:solidFill>
                  <a:srgbClr val="0E7490"/>
                </a:solidFill>
                <a:latin typeface="Segoe UI"/>
              </a:defRPr>
            </a:pPr>
            <a:r>
              <a:t>✔ Desktop GUI Engineering: </a:t>
            </a:r>
            <a:r>
              <a:rPr b="0">
                <a:solidFill>
                  <a:srgbClr val="0F172A"/>
                </a:solidFill>
              </a:rPr>
              <a:t>Build a high-performance desktop application using modern Java SE (Swing &amp; AWT).</a:t>
            </a:r>
          </a:p>
          <a:p>
            <a:pPr>
              <a:spcBef>
                <a:spcPts val="800"/>
              </a:spcBef>
              <a:defRPr sz="1200" b="1">
                <a:solidFill>
                  <a:srgbClr val="0E7490"/>
                </a:solidFill>
                <a:latin typeface="Segoe UI"/>
              </a:defRPr>
            </a:pPr>
            <a:r>
              <a:t>✔ Dynamic Vector Map: </a:t>
            </a:r>
            <a:r>
              <a:rPr b="0">
                <a:solidFill>
                  <a:srgbClr val="0F172A"/>
                </a:solidFill>
              </a:rPr>
              <a:t>Draw an illustrative schematic map using Java2D vector primitives—roads, grounds, and buildings.</a:t>
            </a:r>
          </a:p>
          <a:p>
            <a:pPr>
              <a:spcBef>
                <a:spcPts val="800"/>
              </a:spcBef>
              <a:defRPr sz="1200" b="1">
                <a:solidFill>
                  <a:srgbClr val="0E7490"/>
                </a:solidFill>
                <a:latin typeface="Segoe UI"/>
              </a:defRPr>
            </a:pPr>
            <a:r>
              <a:t>✔ Category Taxonomy: </a:t>
            </a:r>
            <a:r>
              <a:rPr b="0">
                <a:solidFill>
                  <a:srgbClr val="0F172A"/>
                </a:solidFill>
              </a:rPr>
              <a:t>Organize 20 campus landmarks into 6 color-coded operational categories.</a:t>
            </a:r>
          </a:p>
          <a:p>
            <a:pPr>
              <a:spcBef>
                <a:spcPts val="800"/>
              </a:spcBef>
              <a:defRPr sz="1200" b="1">
                <a:solidFill>
                  <a:srgbClr val="0E7490"/>
                </a:solidFill>
                <a:latin typeface="Segoe UI"/>
              </a:defRPr>
            </a:pPr>
            <a:r>
              <a:t>✔ Multi-Criteria Search: </a:t>
            </a:r>
            <a:r>
              <a:rPr b="0">
                <a:solidFill>
                  <a:srgbClr val="0F172A"/>
                </a:solidFill>
              </a:rPr>
              <a:t>Enable instant search across facility names, categories, and keyword descriptions.</a:t>
            </a:r>
          </a:p>
          <a:p>
            <a:pPr>
              <a:spcBef>
                <a:spcPts val="800"/>
              </a:spcBef>
              <a:defRPr sz="1200" b="1">
                <a:solidFill>
                  <a:srgbClr val="0E7490"/>
                </a:solidFill>
                <a:latin typeface="Segoe UI"/>
              </a:defRPr>
            </a:pPr>
            <a:r>
              <a:t>✔ Interactive Dragging: </a:t>
            </a:r>
            <a:r>
              <a:rPr b="0">
                <a:solidFill>
                  <a:srgbClr val="0F172A"/>
                </a:solidFill>
              </a:rPr>
              <a:t>Allow dragging buildings on the canvas with coordinate persistence.</a:t>
            </a:r>
          </a:p>
          <a:p>
            <a:pPr>
              <a:spcBef>
                <a:spcPts val="800"/>
              </a:spcBef>
              <a:defRPr sz="1200" b="1">
                <a:solidFill>
                  <a:srgbClr val="0E7490"/>
                </a:solidFill>
                <a:latin typeface="Segoe UI"/>
              </a:defRPr>
            </a:pPr>
            <a:r>
              <a:t>✔ File Persistence: </a:t>
            </a:r>
            <a:r>
              <a:rPr b="0">
                <a:solidFill>
                  <a:srgbClr val="0F172A"/>
                </a:solidFill>
              </a:rPr>
              <a:t>Manage records using UTF-8 RFC 4180 CSV files without database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6304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⚖ Scope &amp; Boundary Definitions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Schematic Diagram:</a:t>
            </a:r>
            <a:br/>
            <a:r>
              <a:t>  </a:t>
            </a:r>
            <a:r>
              <a:rPr b="0">
                <a:solidFill>
                  <a:srgbClr val="64748B"/>
                </a:solidFill>
              </a:rPr>
              <a:t>The map represents visual spatial relationships rather than sub-meter satellite survey accuracy.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No GPS/Turn-by-Turn:</a:t>
            </a:r>
            <a:br/>
            <a:r>
              <a:t>  </a:t>
            </a:r>
            <a:r>
              <a:rPr b="0">
                <a:solidFill>
                  <a:srgbClr val="64748B"/>
                </a:solidFill>
              </a:rPr>
              <a:t>Intentionally designed for orientation; does not require GPS hardware, mobile sensors, or turn-by-turn routing.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Self-Contained Data:</a:t>
            </a:r>
            <a:br/>
            <a:r>
              <a:t>  </a:t>
            </a:r>
            <a:r>
              <a:rPr b="0">
                <a:solidFill>
                  <a:srgbClr val="64748B"/>
                </a:solidFill>
              </a:rPr>
              <a:t>Accuracy and positions are derived from the local CSV dataset (locations.csv &amp; map_layout.csv).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Local Persistence:</a:t>
            </a:r>
            <a:br/>
            <a:r>
              <a:t>  </a:t>
            </a:r>
            <a:r>
              <a:rPr b="0">
                <a:solidFill>
                  <a:srgbClr val="64748B"/>
                </a:solidFill>
              </a:rPr>
              <a:t>Stores layout and location changes locally on the host machine without cloud dependencies.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TECHNOLOGY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Technology Stack &amp; Architectural 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☕ Java 21+ Platform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Core Programming Language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Provides modern object-oriented language features and high performance.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Utilizes standard Java SE runtime with zero external JAR library dependencies.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Ensures cross-platform desktop execution on Windows, macOS, and Linux.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🖥 Java Swing &amp; AWT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Desktop Graphical User Interface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Manages application shell, sidebar, card layouts, dialogs, and tables.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Guarantees thread-safe UI updates on Swing's Event Dispatch Thread (EDT).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Uses custom component painting for modern rounded cards, buttons, and badges.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00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🎨 Java2D Graphics API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Custom Vector Map Engine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Dynamically renders roads, pedestrian paths, green spaces, and buildings.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Applies anti-aliasing rendering hints for clean visual presentation.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Executes world-to-screen AffineTransform transformations for smooth zoom &amp; pan.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📄 RFC 4180 CSV Storage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Persistence Layer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Implements robust UTF-8 CSV parsing and writing via CsvUtils.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Safely escapes embedded commas, quotes, and multi-line descriptions.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Eliminates SQL database setup, ODBC drivers, and administrative server overhead.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069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💻 VS Code &amp; PowerShell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Development &amp; Build Environment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Organized project structure with clean separation of src, data, out, and test.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Direct compilation via javac -encoding UTF-8 -d out.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One-click launch script run.ps1 for seamless evaluation and live demonstration.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069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🐙 Git &amp; GitHub</a:t>
            </a:r>
          </a:p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Version Control &amp; Collaboration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Full version control tracking code evolution and file revisions.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Public GitHub repository: Hithesh-07/Alliance-Campus-Navigator.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Transparent commit history and automated unit/integration test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 &amp; 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PRESENTATION LAYER (ui package)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CampusNavFrame (Shell &amp; Nav)  ◄►  DashboardPanel  |  CampusMapPanel (Java2D Canvas)  |  LocationSearchPanel  |  LocationManagementPanel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2560320"/>
            <a:ext cx="457200" cy="27432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6858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6492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7490"/>
                </a:solidFill>
                <a:latin typeface="Segoe UI"/>
              </a:defRPr>
            </a:pPr>
            <a:r>
              <a:t>APPLICATION &amp; BUSINESS LOGIC LAYER (data package)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CampusDataManager (Singleton): Central state controller &amp; observable data source.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DataChangeListener: Reactive observer notifying UI views of additions, updates, or deletions.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DefaultCampusData: Hardcoded baseline fallback for instant initialization and Reset Layout.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CsvUtils: RFC 4180 parsing engine with quote escaping and stream buffering.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92608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0175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DATA DOMAIN MODELS (model package)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CampusLocation: id, name, category, description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MapItem: id, x, y, width, height, shapeType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Category Enum: ACADEMIC, ADMINISTRATIVE, FOOD, SPORTS, RESIDENTIAL, OTHER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931920" y="4663440"/>
            <a:ext cx="457200" cy="27432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Segoe UI"/>
              </a:defRPr>
            </a:pPr>
            <a:r>
              <a:t>PERSISTENCE STORAGE LAYER (data/ directory)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data/locations.csv ── Stores metadata (id, name, category, description)</a:t>
            </a:r>
            <a:br/>
            <a:r>
              <a:t>• data/map_layout.csv ── Stores 2D spatial footprints (id, x, y, width, height, shapeType, customColorHex)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CAMPUS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Campus Schematic Map &amp; Facility Taxonomies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035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_campus_map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5852160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39496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Actual Java2D vector rendering showing selected Alliance School of Business (Rotunda), Library Dome, Football Ground, and Cricket 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463040"/>
            <a:ext cx="43891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5544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🏛 Campus Facility Categorization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Academic (Blue):</a:t>
            </a:r>
            <a:br/>
            <a:r>
              <a:t>  </a:t>
            </a:r>
            <a:r>
              <a:rPr b="0">
                <a:solidFill>
                  <a:srgbClr val="0F172A"/>
                </a:solidFill>
              </a:rPr>
              <a:t>Alliance School of Business, Library, Eng. Block, Law, Liberal Arts, LC-1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Administrative (Purple):</a:t>
            </a:r>
            <a:br/>
            <a:r>
              <a:t>  </a:t>
            </a:r>
            <a:r>
              <a:rPr b="0">
                <a:solidFill>
                  <a:srgbClr val="0F172A"/>
                </a:solidFill>
              </a:rPr>
              <a:t>Administrative Block (Chancellor's office, Admissions, Registrar)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Food &amp; Dining (Orange):</a:t>
            </a:r>
            <a:br/>
            <a:r>
              <a:t>  </a:t>
            </a:r>
            <a:r>
              <a:rPr b="0">
                <a:solidFill>
                  <a:srgbClr val="0F172A"/>
                </a:solidFill>
              </a:rPr>
              <a:t>Alliance Food Court, Daana Paani Multicuisine Cafe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Sports &amp; Recreation (Green):</a:t>
            </a:r>
            <a:br/>
            <a:r>
              <a:t>  </a:t>
            </a:r>
            <a:r>
              <a:rPr b="0">
                <a:solidFill>
                  <a:srgbClr val="0F172A"/>
                </a:solidFill>
              </a:rPr>
              <a:t>Football Turf Ground, Cricket Ground, Volleyball, Basketball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Residential (Amber):</a:t>
            </a:r>
            <a:br/>
            <a:r>
              <a:t>  </a:t>
            </a:r>
            <a:r>
              <a:rPr b="0">
                <a:solidFill>
                  <a:srgbClr val="0F172A"/>
                </a:solidFill>
              </a:rPr>
              <a:t>Hall of Residence 1 (HOR 1), HOR 2, HOR 5, Staff Quarters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Other Services (Slate):</a:t>
            </a:r>
            <a:br/>
            <a:r>
              <a:t>  </a:t>
            </a:r>
            <a:r>
              <a:rPr b="0">
                <a:solidFill>
                  <a:srgbClr val="0F172A"/>
                </a:solidFill>
              </a:rPr>
              <a:t>Water Treatment &amp; Recycling Plant, Western Gateway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User Interface Showcase &amp; Interactive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Dashboard Analytics View</a:t>
            </a:r>
          </a:p>
        </p:txBody>
      </p:sp>
      <p:pic>
        <p:nvPicPr>
          <p:cNvPr id="9" name="Picture 8" descr="1_dashboar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310896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39776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Live summary metric counters (Academic, Food, Sports, Hostels).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Interactive mini-map preview card with instant launch shortcut.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Quick-access popular university hubs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Multi-Criteria Search Engine</a:t>
            </a:r>
          </a:p>
        </p:txBody>
      </p:sp>
      <p:pic>
        <p:nvPicPr>
          <p:cNvPr id="13" name="Picture 12" descr="4_search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965960"/>
            <a:ext cx="3108960" cy="1920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6280" y="39776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Real-time keystroke filtering across names, IDs, and descriptions.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One-click category filter chips (All, Academic, Sports, etc.).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'Show on Map' button automatically navigates &amp; highlights.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Location Management (CRUD)</a:t>
            </a:r>
          </a:p>
        </p:txBody>
      </p:sp>
      <p:pic>
        <p:nvPicPr>
          <p:cNvPr id="17" name="Picture 16" descr="5_management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965960"/>
            <a:ext cx="3108960" cy="1920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83880" y="39776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Searchable table showing coordinates (X, Y) and dimensions.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Modal dialogs for Add / Edit with validation checks.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• Instant cross-view sync and persistent CSV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SOURCE CODE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Object-Oriented Programming (OOP)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🏛 OOP Principles Applied in Source Code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Inheritance: </a:t>
            </a:r>
            <a:r>
              <a:rPr b="0">
                <a:solidFill>
                  <a:srgbClr val="0F172A"/>
                </a:solidFill>
              </a:rPr>
              <a:t>CampusNavFrame extends JFrame; CampusMapPanel, DashboardPanel, LocationSearchPanel extend JPanel; LocationDialog extends JDialog.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Polymorphism: </a:t>
            </a:r>
            <a:r>
              <a:rPr b="0">
                <a:solidFill>
                  <a:srgbClr val="0F172A"/>
                </a:solidFill>
              </a:rPr>
              <a:t>@Override paintComponent(Graphics g) customized across map and buttons; interface implementation in NavigationController.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Encapsulation: </a:t>
            </a:r>
            <a:r>
              <a:rPr b="0">
                <a:solidFill>
                  <a:srgbClr val="0F172A"/>
                </a:solidFill>
              </a:rPr>
              <a:t>CampusLocation and MapItem enforce private fields with strict getters, setters, and boundary constraints (e.g. Math.max(30, width)).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Event-Driven Architecture: </a:t>
            </a:r>
            <a:r>
              <a:rPr b="0">
                <a:solidFill>
                  <a:srgbClr val="0F172A"/>
                </a:solidFill>
              </a:rPr>
              <a:t>Swing event listeners (MouseAdapter, KeyAdapter) handle real-time canvas dragging and live search filtering.</a:t>
            </a:r>
          </a:p>
          <a:p>
            <a:pPr>
              <a:spcBef>
                <a:spcPts val="8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• Observer Pattern: </a:t>
            </a:r>
            <a:r>
              <a:rPr b="0">
                <a:solidFill>
                  <a:srgbClr val="0F172A"/>
                </a:solidFill>
              </a:rPr>
              <a:t>DataChangeListener decoupled event bus triggers instant cross-panel refreshes when records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Segoe UI"/>
              </a:defRPr>
            </a:pPr>
            <a:r>
              <a:t>💻 Actual Source Code Example: Map Drag Translation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// From ui/CampusMapPanel.java (World Coordinate Translation)</a:t>
            </a:r>
            <a:br/>
            <a:r>
              <a:t>public Point2D toWorld(Point screenPt) {</a:t>
            </a:r>
            <a:br/>
            <a:r>
              <a:t>    double wx = (screenPt.x - panX) / zoom;</a:t>
            </a:r>
            <a:br/>
            <a:r>
              <a:t>    double wy = (screenPt.y - panY) / zoom;</a:t>
            </a:r>
            <a:br/>
            <a:r>
              <a:t>    return new Point2D.Double(wx, wy);</a:t>
            </a:r>
            <a:br/>
            <a:r>
              <a:t>}</a:t>
            </a:r>
            <a:br/>
            <a:br/>
            <a:r>
              <a:t>@Override</a:t>
            </a:r>
            <a:br/>
            <a:r>
              <a:t>public void mouseDragged(MouseEvent e) {</a:t>
            </a:r>
            <a:br/>
            <a:r>
              <a:t>    if (isDraggingBuilding &amp;&amp; draggingItem != null) {</a:t>
            </a:r>
            <a:br/>
            <a:r>
              <a:t>        Point2D worldPt = toWorld(e.getPoint());</a:t>
            </a:r>
            <a:br/>
            <a:r>
              <a:t>        double newX = worldPt.getX() + dragStartBuildingX;</a:t>
            </a:r>
            <a:br/>
            <a:r>
              <a:t>        double newY = worldPt.getY() + dragStartBuildingY;</a:t>
            </a:r>
            <a:br/>
            <a:r>
              <a:t>        </a:t>
            </a:r>
            <a:br/>
            <a:r>
              <a:t>        draggingItem.setX(Math.round(newX));</a:t>
            </a:r>
            <a:br/>
            <a:r>
              <a:t>        draggingItem.setY(Math.round(newY));</a:t>
            </a:r>
            <a:br/>
            <a:r>
              <a:t>        hasUnsavedChanges = true;</a:t>
            </a:r>
            <a:br/>
            <a:r>
              <a:t>        repaint();</a:t>
            </a:r>
            <a:br/>
            <a:r>
              <a:t>    }</a:t>
            </a:r>
            <a:br/>
            <a:r>
              <a:t>}</a:t>
            </a:r>
          </a:p>
          <a:p>
            <a:pPr>
              <a:spcBef>
                <a:spcPts val="800"/>
              </a:spcBef>
              <a:defRPr sz="1000">
                <a:solidFill>
                  <a:srgbClr val="0D9488"/>
                </a:solidFill>
                <a:latin typeface="Segoe UI"/>
              </a:defRPr>
            </a:pPr>
            <a:r>
              <a:t>Key Logic: Screen pixels are inverted through zoom/pan transforms, ensuring that dragging never corrupts saved logical coordinates.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DATA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File Handling &amp; Persistent CSV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10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3291840"/>
                <a:gridCol w="2194560"/>
              </a:tblGrid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Persistent File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CSV Column Schema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Domain Purpose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Read / Write Lifecycle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data/locations.csv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id, name, category,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Stores facility identities, names, category groupings, and editable descriptions.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Loaded on start-up; written on Add, Edit, or Delete.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data/map_layout.csv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id, x, y, width, height, shapeType, customColorHex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Stores 2D spatial positions, bounding dimensions, and architectural shape geometry.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Loaded on start-up; written on Save Layout &amp; reset on Reset Layout.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749039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⚡ Key Implementation Highlights in CsvUtils &amp; CampusDataManager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✔ RFC 4180 Compliance: Handles quotes, commas inside text, and escaped quotes ("") through custom state-machine parsing.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✔ UTF-8 Encoding: Guarantees safe encoding across all operating systems without character corruption.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✔ Automatic Initial Seeding: If CSV files are missing on first run, DefaultCampusData automatically populates all 20 records.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✔ Data Integrity: Synchronizes memory models with disk; deleting a location removes both its record and its spatial map footprint.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Segoe UI"/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Verification Testing, Results &amp; Known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Alliance Campus Navigator  |  B.Tech CSE Micro Project  |  Alliance University, Bengaluru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  <a:latin typeface="Segoe UI"/>
              </a:defRPr>
            </a:pPr>
            <a:r>
              <a:t>11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65836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1920240"/>
                <a:gridCol w="914400"/>
              </a:tblGrid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Objective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Verification 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CSV Escaping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RFC 4180 quotes &amp; commas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testCsvEscaping()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Default Seeding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20 default campus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testDefaultDataIntegrity()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CRUD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Add, edit, delete &amp;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testDataManagerPersistence()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Search &amp;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Case-insensitive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testSearchFiltering()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Map Hit Bounds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World-space coordinate hit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testMapGeometryAndBounds()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89520" y="1463040"/>
            <a:ext cx="38404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Segoe UI"/>
              </a:defRPr>
            </a:pPr>
            <a:r>
              <a:t>🖥 GUI Smoke Test Verification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CampusNavGuiSmokeTest verified frame creation on Swing EDT, view card switching, and layout resizing without headless or rendering exceptions.</a:t>
            </a:r>
          </a:p>
          <a:p>
            <a:pPr>
              <a:spcBef>
                <a:spcPts val="1400"/>
              </a:spcBef>
              <a:defRPr sz="1300" b="1">
                <a:solidFill>
                  <a:srgbClr val="E11D48"/>
                </a:solidFill>
                <a:latin typeface="Segoe UI"/>
              </a:defRPr>
            </a:pPr>
            <a:r>
              <a:t>⚖ Documented Limitations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• Schematic map is an illustrative diagram, not a GPS GIS projection.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• No turn-by-turn routing (intentionally out of scope).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• Single-user desktop architecture without multi-user concurrent locking.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Conclusion, Future Scope &amp; Viva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  <a:latin typeface="Segoe UI"/>
              </a:defRPr>
            </a:pPr>
            <a:r>
              <a:t>🏆 Project Summary &amp; Achievements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Successfully developed an offline-first desktop navigation system for Alliance University.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Integrated Java2D custom drawing with real-time drag-and-drop map layout modification.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Implemented full CRUD lifecycle with synchronized CSV storage.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Demonstrated sound OOP architecture, clean separation of concerns, and thread-safe Swing execution.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✔ 100% test pass rate across backend persistence and GUI smoke suites.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  <a:latin typeface="Segoe UI"/>
              </a:defRPr>
            </a:pPr>
            <a:r>
              <a:t>🚀 Future Enhancement Scope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• Shortest Path Routing: Implement Dijkstra or A* pathfinding algorithm for pedestrian pathways.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• Database Integration: Migrate from CSV to SQLite/PostgreSQL for enterprise scalability.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• Mobile &amp; Web Companion: Develop responsive companion apps using modern web technologies.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• Multi-Floor Indoor Navigation: Support level-by-level indoor layout diagrams for complex academic blocks.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Segoe UI"/>
              </a:defRPr>
            </a:pPr>
            <a:r>
              <a:t>🔗 GitHub Repository: https://github.com/Hithesh-07/Alliance-Campus-Navigator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Thank You! Questions &amp; Viva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